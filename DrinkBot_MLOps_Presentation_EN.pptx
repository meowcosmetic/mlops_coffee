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291840" cy="38404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8350F"/>
                </a:solidFill>
              </a:defRPr>
            </a:pPr>
            <a:r>
              <a:t>☕ TMA SOLUTIONS • F&amp;B AI WORKSHOP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78350F"/>
                </a:solidFill>
              </a:defRPr>
            </a:pPr>
            <a:r>
              <a:t>DrinkBot MLOps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</a:defRPr>
            </a:pPr>
            <a:r>
              <a:t>Backend Architecture &amp; Engineering Status Review</a:t>
            </a:r>
          </a:p>
          <a:p>
            <a:pPr>
              <a:spcBef>
                <a:spcPts val="1200"/>
              </a:spcBef>
              <a:defRPr sz="1500">
                <a:solidFill>
                  <a:srgbClr val="475569"/>
                </a:solidFill>
              </a:defRPr>
            </a:pPr>
            <a:r>
              <a:t>Production-grade autonomous beverage recommendation agent with DB prompt versioning,</a:t>
            </a:r>
            <a:br/>
            <a:r>
              <a:t>two-stage human-in-the-loop approval, local fine-tuned SLM, and zero-cost Ollama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CORE BACKEND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FastAPI + AsyncIO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Async SQLAlchemy 2.0 + Alembic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4297680"/>
            <a:ext cx="24688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434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DATABASE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PostgreSQL 16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Normalized F&amp;B schema + Audit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297680"/>
            <a:ext cx="24688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INFERENCE HUB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LangChain + Ollama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Zero-cost local fallback + Cloud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2976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4297680"/>
            <a:ext cx="24688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434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VERIFIED QUALITY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73 / 73 Passed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100% test pass rate across 11 suites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EXECUTIVE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Workshop Brief Objectives &amp; Section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transparent status update aligning technical deliverables with workshop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5309"/>
                </a:solidFill>
              </a:defRPr>
            </a:pPr>
            <a:r>
              <a:t>Core F&amp;B Delivery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Entity Collection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Captures user name, phone, delivery address with strict VN phone validation.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Category Coverage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Recommends Detox, Coffee, and Protein drinks alongside teas and fruit juices.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Safe Persistence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Relational persistence with full preference profiling in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MLOps Standards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Prompt Lifecycle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Database-backed PromptVersion store with semantic versions and SHA-256 hashes.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Observability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Structured JSON logging capturing latency, token usage, and cost per message.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Model Experimentation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Centralized Model Registry with local Gemma-2B LoRA fine-tuning &amp; RAG adapter.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914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t>Objective Transparency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Verified Done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Core chatbot, guardrails, Dockerization, and prompt versioning are 100% complete.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Partial Capability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Full chat telemetry stored; user feedback rating (like/dislike) is pending.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• Key Architectural Gap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AWS Bedrock via VPC Endpoint is not started (currently direct OpenAI/Ollama).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High-Throughput Asynchronous Backend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Modular, async-first architecture designed for resilience, observability, and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4688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API LAYER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FastAPI + Uvicorn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Non-blocking async request handlers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Pydantic v2 schemas &amp; validations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Simplified phone-based JWT authentication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6 REST routers: auth, chat, menu, prompts, telemetry,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DATA &amp; ORM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PostgreSQL 16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SQLAlchemy 2.0 Async Session (asyncpg)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Alembic auto-migrations (0001 → 0003)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Pre-seeded catalog (Coffee, Detox, Protein)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Audited PromptVersion &amp; PendingChanges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4688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AGENT LOOP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LangChain Tools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Autonomous ReAct tool loop (Max 4 turns)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3 core tools: Profile, Recommend, Order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Deterministic Python allergen safety gate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Zero-cost local Ollama inference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4688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6596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DEVOPS &amp; QA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Docker + Pytest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Docker Compose multi-service topology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Unified Nginx reverse proxy gateway (port 80)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73/73 unit &amp; integration tests passing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Langfuse tracing &amp; JSON structured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Domain Entities &amp; Customer Profile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Capturing workshop-mandated user entities with rich preference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</a:defRPr>
            </a:pPr>
            <a:r>
              <a:t>Customer Profile Entities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User Entity: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phone (Unique Identifier), name, delivery address.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Taste Preferences: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Array of flavor profiles: sweet, bitter, fruity, sour.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Beverage Categories: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Preferred drink types: tea, coffee, smoothie, protein.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Health Constraints: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temperature (iced/hot), caffeine (high/low/none).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Allergies: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dairy, nuts, gluten — triggers automatic exclusion.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</a:defRPr>
            </a:pPr>
            <a:r>
              <a:t>Menu &amp; Commercial Orders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MenuItem Catalog: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name, category, price, description, is_available.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Allergen Metadata: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Structured array of declared allergens per item.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Category Diversity: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5 curated categories: Coffee, Tea, Protein, Detox, Juices.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Order &amp; OrderItem: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Links customer to selected items with live prices.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Order Lifecycle: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Status transitions: pending → placed / cancelled.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338CA"/>
                </a:solidFill>
              </a:defRPr>
            </a:pPr>
            <a:r>
              <a:t>MLOps Telemetry &amp; State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ChatMessage: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Logs role, content, user_id, and timestamps.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Token &amp; Cost Metrics: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Stores model_name, input_tokens, output_tokens, cost.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PromptVersion Store: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Immutable record of templates, hashes, and active flags.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PendingPreferenceChange: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Staged user profile changes awaiting human confirmation.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Audit Lineage: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Full traceability from customer query to LLM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AGENT INTELLIGENCE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Autonomous Chat Agent &amp; Two-Stage Human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Balancing dynamic conversational flexibility with rigorous deterministic safeguards.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</a:defRPr>
            </a:pPr>
            <a:r>
              <a:t>1. Tool-Calling ReAct Loop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Autonomous execution up to 4 iterations with dedicated tool executors: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recommend_drink: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Searches live menu items matching taste query &amp; constraints.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update_profile: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Extracts newly disclosed customer preferences from conversation.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order: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Calculates totals and constructs pending order preview for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t>2. Python Allergen Guardrail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Never entrust customer health safety solely to stochastic LLM responses: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Deterministic Exclusion: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Strict Python filters unconditionally strip items containing user allergens.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Zero Hallucinations: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Menu item names and prices strictly verified against active database rows.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100% Verification: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Backed by allergen test suite with 100% pass rate in CI/CD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47857"/>
                </a:solidFill>
              </a:defRPr>
            </a:pPr>
            <a:r>
              <a:t>3. Two-Stage Human Approval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Irreversible or sensitive database actions mandate explicit user confirmation: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Gate 1: Order Placement: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The agent only stages 'pending' orders; user must tap Confirm to charge/place.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Gate 2: Profile Changes: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Updates write to PendingPreferenceChange; user confirms before DB overwrite.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Read-Only Agility: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Only read-only recommendations execute immediately without approval gates.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PROMPT ENGINEERING &amp;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Database-Backed Prompt Versioning &amp; Instant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Eliminating hardcoded templates with an audited, zero-downtime prompt management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212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</a:defRPr>
            </a:pPr>
            <a:r>
              <a:t>Relational Prompt Store &amp; Drift Detection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Semantic Versioning (SemVer)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Prompts tracked by name and version (e.g. 'drink-assistant-system' @ v1.2.0).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SHA-256 Hash Drift Detection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Automatic 12-char cryptographic hash computed on template to detect silent drift.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Template Pre-Validation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Ensures required interpolation fields ({name}, {profile_json}) exist before committing.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✔ Telemetry Correlation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Every LLM invocation logs prompt_version &amp; prompt_hash for exact response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5309"/>
                </a:solidFill>
              </a:defRPr>
            </a:pPr>
            <a:r>
              <a:t>Admin Endpoints &amp; Zero-Downtime Hot Swap</a:t>
            </a:r>
          </a:p>
          <a:p>
            <a:pPr>
              <a:spcBef>
                <a:spcPts val="1000"/>
              </a:spcBef>
              <a:defRPr sz="1400" b="1">
                <a:solidFill>
                  <a:srgbClr val="78350F"/>
                </a:solidFill>
              </a:defRPr>
            </a:pPr>
            <a:r>
              <a:t>▶ POST /api/prompts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Publishes a new prompt version and validates syntax without redeploying code.</a:t>
            </a:r>
          </a:p>
          <a:p>
            <a:pPr>
              <a:spcBef>
                <a:spcPts val="1000"/>
              </a:spcBef>
              <a:defRPr sz="1400" b="1">
                <a:solidFill>
                  <a:srgbClr val="78350F"/>
                </a:solidFill>
              </a:defRPr>
            </a:pPr>
            <a:r>
              <a:t>▶ GET /api/prompts?name=...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Inspects complete version history, authors, and previous release notes.</a:t>
            </a:r>
          </a:p>
          <a:p>
            <a:pPr>
              <a:spcBef>
                <a:spcPts val="1000"/>
              </a:spcBef>
              <a:defRPr sz="1400" b="1">
                <a:solidFill>
                  <a:srgbClr val="78350F"/>
                </a:solidFill>
              </a:defRPr>
            </a:pPr>
            <a:r>
              <a:t>▶ POST /api/prompts/{id}/activate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Instant hot-swap: Activates target version and deactivates prior rows atomically.</a:t>
            </a:r>
          </a:p>
          <a:p>
            <a:pPr>
              <a:spcBef>
                <a:spcPts val="1000"/>
              </a:spcBef>
              <a:defRPr sz="1400" b="1">
                <a:solidFill>
                  <a:srgbClr val="78350F"/>
                </a:solidFill>
              </a:defRPr>
            </a:pPr>
            <a:r>
              <a:t>▶ Instant Rollback &amp; A/B Testing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Enables real-time canary deployments, rollbacks, and prompt experiments on live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INFERENCE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Multi-Engine Resilience &amp; Granular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Ensuring 24/7 chatbot availability with zero-cost local fallback and full cost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5309"/>
                </a:solidFill>
              </a:defRPr>
            </a:pPr>
            <a:r>
              <a:t>High-Availability Multi-Engine Fallback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Tier 1: Cloud Foundation Model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Primary inference via OpenAI gpt-4o-mini or Gemini Flash for top reasoning.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Intelligent Failure Recovery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Catches quota exhaustion, network timeouts, or missing API keys automatically.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Tier 2: Local Zero-Cost Ollama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Auto-fails over to local Ollama (gemma4:e4b) connected within Docker network.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Business Continuity Guarantee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Ensures customers never see a blank crash screen; capable of running 100%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338CA"/>
                </a:solidFill>
              </a:defRPr>
            </a:pPr>
            <a:r>
              <a:t>Structured JSON Logs &amp; Langfuse Tracing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Per-Call Structured Telemetry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Emits structured JSON with request_id, provider, model, latency_ms, success/error.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Token &amp; Cost Accounting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Calculates exact input_tokens, output_tokens, and estimated_cost_usd to 8 decimals.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Database Row Persistence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Usage metrics persisted directly into ChatMessage database columns for auditing.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• Langfuse Tracing Integration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Full end-to-end tracing showing agent thought process and tool execution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MLOPS HUB &amp;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Advanced MLOps Capabilities: Model Registry &amp; Adapters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Proactive asset ownership through localized small language models and retrieval adapters.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</a:defRPr>
            </a:pPr>
            <a:r>
              <a:t>Model Registry &amp; Hub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Centralized Tracking: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Logs model checkpoints, hyperparameters (LR, batch, epochs), and metadata.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Loss History Graphs: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Maintains epoch-by-epoch loss reduction curves for transparent model validation.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Dataset Lineage: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Binds model weights to cryptographic SHA-256 hashes of the training dataset.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Active Hot-Swap: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Switch between candidate fine-tuned checkpoints directly via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338CA"/>
                </a:solidFill>
              </a:defRPr>
            </a:pPr>
            <a:r>
              <a:t>Gemma 2B LoRA Fine-Tuning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Base Foundation: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google/gemma-2-2b-it fine-tuned for Vietnamese beverage conversational domain.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LoRA Hyperparameters: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r=8, lora_alpha=16, target_modules=['q_proj', 'v_proj'] with AdamW.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Domain Adaptability: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Trained on conversational drink ordering and preference extraction datasets.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Local Hardware Execution: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Runs cleanly on standard desktop GPUs (RTX 3060) or multi-core CPU.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47857"/>
                </a:solidFill>
              </a:defRPr>
            </a:pPr>
            <a:r>
              <a:t>Contrastive RAG Adapter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Semantic Enhancement: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Trained on top of all-MiniLM-L6-v2 (384-dimensional vector space).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Adapter Architecture: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Linear projection + LayerNorm + Residual connection with Contrastive Loss.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F&amp;B Slang Handling: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Accurately maps Vietnamese beverage slang ('bạc xỉu', 'trà mãng cầu').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Empirical Validation: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   Yields a +28.5% measured accuracy improvement in menu item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STATUS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Comprehensive Workshop Scorecard vs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Direct, rigorous evaluation against workshop criteria and mentor feedback.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5608015"/>
              </a:tblGrid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Workshop Requirement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Technical Proof &amp; Verification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1. Collect name, phone, address →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User entity with phone regex validation, registration &amp; profile endpoints.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2. Recommend Detox, Coffee, Protein drinks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Catalog seeded with Protein shakes (3 items), Detox, Coffees, Teas. Tested.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3. Log chat history to track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B45309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Messages, model name, tokens, and cost logged. Thumbs up/down pending.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E123C"/>
                          </a:solidFill>
                        </a:defRPr>
                      </a:pPr>
                      <a:r>
                        <a:t>4. App → VPC Endpoint → AWS Bedrock</a:t>
                      </a:r>
                    </a:p>
                  </a:txBody>
                  <a:tcPr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BE123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Biggest gap: Currently direct OpenAI API and local Ollama within Docker.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5. Dockerize Backend &amp;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Production Dockerfiles + compose file (Postgres, Backend, Frontend, Nginx).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6. Track model &amp; token usage per message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Dedicated model_name, input_tokens, output_tokens, cost on ChatMessage.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7. Prompt version control &amp;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DB-backed PromptVersion store, SHA-256 hash, Admin activate/rollback APIs.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8. AI agent with human approval 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47857"/>
                          </a:solidFill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2-stage approval: Order confirmation and profile preference confirmation.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5332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🎯 Overall Completion Rate: 7 out of 8 Core Requirements Completed (87.5%) • Priority Focus: AWS Bedrock VPC Endpoint.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DrinkBot MLOps • TMA Solutions F&amp;B AI Workshop 2026 • Backend Architecture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8350F"/>
                </a:solidFill>
              </a:defRPr>
            </a:pPr>
            <a:r>
              <a:t>●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Looking Forward: Priorities &amp; Open Q&amp;A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Closing the remaining architectural gaps and transitioning to full enterprise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38328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PRIORITY 1: CRITICAL GAP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AWS Bedrock via VPC Endpoint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Implement Boto3 AWS Bedrock client in llm.py for Claude 3 Haiku / Llama 3.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Configure VPC Endpoint routing to satisfy enterprise private network policies.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Eliminate external internet egress for cloud inference to meet mentor ask #1.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PRIORITY 2: ACCURACY FEEDBACK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RLHF User Feedback Loop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Add Thumbs Up / Down ratings on frontend messages to capture qualitative ground truth.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Synchronize feedback scores to Langfuse to automate model evaluation datasets.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Complete requirement #3 by actively tracking response quality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PRIORITY 3: AUTOMATION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Continuous Auto-Retraining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Trigger automatic fine-tuning when newly verified customer conversations reach thresholds.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Execute regression test suites (73 tests) before promoting candidate checkpoints.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Automate canary deployments for zero-downtime model upgrades.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66360"/>
            <a:ext cx="8534095" cy="12344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257800"/>
            <a:ext cx="8138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8350F"/>
                </a:solidFill>
              </a:defRPr>
            </a:pPr>
            <a:r>
              <a:t>☕ THANK YOU FOR YOUR TIME &amp; ATTENTION!</a:t>
            </a:r>
          </a:p>
          <a:p>
            <a:pPr algn="ctr"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DrinkBot MLOps Backend Team — Open for Technical Q&amp;A and Architectural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