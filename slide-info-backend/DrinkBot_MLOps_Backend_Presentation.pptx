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926080" cy="365760"/>
          </a:xfrm>
          <a:prstGeom prst="rect">
            <a:avLst/>
          </a:prstGeom>
          <a:solidFill>
            <a:srgbClr val="16203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TMA SOLUTIONS • F&amp;B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☕ DrinkBot MLOps</a:t>
            </a:r>
          </a:p>
          <a:p>
            <a:pPr>
              <a:spcBef>
                <a:spcPts val="800"/>
              </a:spcBef>
              <a:defRPr sz="2800" b="1">
                <a:solidFill>
                  <a:srgbClr val="F8FAFC"/>
                </a:solidFill>
              </a:defRPr>
            </a:pPr>
            <a:r>
              <a:t>Backend Architecture &amp; Engineering Status Review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Hệ thống Chatbot Khuyến nghị Đồ uống Thông minh với Nền tảng MLOps Toàn diện:</a:t>
            </a:r>
            <a:br/>
            <a:r>
              <a:t>Autonomous Agent, Human-in-the-Loop, DB Prompt Versioning &amp; Multi-Engine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468880" cy="12801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STACK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FastAPI + Async SQLAlchemy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114800"/>
            <a:ext cx="2468880" cy="12801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251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DATABASE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PostgreSQL 16 + Alembic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468880" cy="12801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251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INFERENCE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LangChain + Ollama/OpenAI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114800"/>
            <a:ext cx="2468880" cy="12801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42519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 SUITE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73 / 73 Tests Passed (100%)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Báo cáo Kỹ thuật Backend • Nhánh main (Merged origin/backend) • Ngày: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SECTION GOAL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Mục Tiêu &amp; Tinh Thần Báo Cáo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Đối chiếu trực diện kết quả thực tế với yêu cầu của Workshop &amp; Mentor.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Nghiệp Vụ F&amp;B Cốt Lõi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Thu thập 3 thực thể khách hàng: Họ tên, Số điện thoại, Địa chỉ giao hàng.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Tư vấn đồ uống cá nhân hóa theo 5 nhóm: Cà phê, Trà detox, Protein shakes, Nước ép.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Lưu trữ chuẩn xác vào PostgreSQL với quan hệ dữ liệu 1-1 và 1-N.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Tiêu Chuẩn Hóa MLOps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Quản trị vòng đời Prompt Versioning &amp; Rollback lưu trữ trực tiếp trong DB.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Ghi nhận chi tiết lịch sử trò chuyện: Token, Latency, Cost cho từng tin nhắn.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Tích hợp Model Registry, Fine-Tuning SLM Gemma 2B và Contrastive RAG Adapter.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38328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19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Đánh Giá Khách Quan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Minh bạch tuyệt đối: Báo cáo rõ các phần đã hoàn thiện (Done) và đang hoàn thiện.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Chỉ rõ khoảng trống công nghệ lớn nhất hiện tại: Chưa tích hợp AWS Bedrock qua VPC Endpoint.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• Mọi khẳng định 'Done' đều được chứng minh qua mã nguồn và 73 test cases.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Kiến Trúc Kỹ Thuật Backend Toàn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Thiết kế bất đồng bộ (Async), chịu tải cao và hỗ trợ quan sát (Observability) tối ưu.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68880" cy="3931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API LAYER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FastAPI + AsyncIO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Uvicorn ASGI Server non-blocking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Pydantic v2 schemas validation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JWT Auth đơn giản hóa theo SĐT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6 Routers: auth, chat, menu, prompts, telemetry,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91640"/>
            <a:ext cx="2468880" cy="3931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24688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&amp; ORM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Postgres 16 + AsyncPG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SQLAlchemy 2.0 Async Session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Alembic Migrations (0001 → 0003)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Auto-seed thực đơn &amp; nhóm đồ uống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PromptVersion &amp; Audit log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2468880" cy="3931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AGENT &amp; LLM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LangChain Tool Agent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ReAct Loop (Max 4 iterations)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3 Tools: Profile, Recommend, Order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Python Allergen Guardrails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Ollama Local zero-cost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91640"/>
            <a:ext cx="2468880" cy="3931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691640"/>
            <a:ext cx="246888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DEVOPS &amp; QA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Docker &amp; Pytest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Docker Compose (5 containers)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Nginx API Gateway proxy port 80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73/73 tests pass trong 2.5 giây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Langfuse Telemetry Tracing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⚡ Hiệu năng: Phản hồi P95 &lt; 850ms | Độ bao phủ kiểm thử: 11 file test suite (Auth, Chat, Menu, Prompts, RAG, Evals) đạt tỷ lệ Pass 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Mô Hình Dữ Liệu Nghiệp Vụ &amp; Thu Thập Thực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Lưu trữ chuẩn xác thông tin khách hàng, cấu trúc menu F&amp;B và nhật ký vận hành MLOps.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User &amp; Preferences (Khách hàng)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User Entity: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phone (Unique), name, address (giao hàng)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Tastes Profile: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ngọt, đắng, chua, béo (mảng JSON)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Drink Types: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cà phê, trà trái cây, sinh tố, detox, protein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Health &amp; Safety: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temperature, caffeine, allergies (dị ứng)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Dietary: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dietary_restrictions (ăn chay, keto, v.v.)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Menu &amp; Ordering (F&amp;B)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MenuItem: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name, category, price, description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Allergen List: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Danh sách dị nguyên (sữa, đậu phộng, gluten)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Menu Diversity: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5 nhóm: Coffee, Tea, Protein, Detox, Juices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Order Entity: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user_id, total_amount, status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Order Status: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pending (chờ duyệt) → placed / cancelled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MLOps &amp; Governance (Vận hành)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ChatMessage: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role, content, user_id, created_at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Cost &amp; Latency: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input_tokens, output_tokens, estimated_cost_usd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Model Tracking: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model_name lưu vết chính xác trên từng message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PromptVersion: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name, version, template, is_active, prompt_hash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PendingChanges: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Lưu thay đổi profile đang chờ khách hàng duyệt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AUTONOMOUS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Chat Agent &amp; Cơ Chế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Sự kết hợp giữa trí tuệ nhân tạo linh hoạt và hàng rào an toàn tuyệt đối từ mã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1. Tool Calling ReAct Loop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Mô hình lặp tối đa 4 bước (Max 4 iterations) tự động chọn công cụ thích hợp: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recommend_drink: Tra cứu menu và gợi ý món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update_profile: Đề xuất cập nhật sở thích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order: Tạo bản xem trước (preview) đơn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2. Python Allergen Guardrail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Không bao giờ tin tưởng hoàn toàn vào LLM đối với an toàn sức khỏe: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Hàm Python tự động loại trừ mọi món chứa dị nguyên của khách hàng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Xác thực giá tiền và tên món 100% khớp cơ sở dữ liệu menu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Bộ test allergen an toàn vượt qua 100% kiểm thử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83280" cy="411480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Two-Stage Approval Gate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Cơ chế con người can thiệp (Human-in-the-loop) tại các điểm rủi ro: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Cổng 1 (Order): Đơn hàng luôn ở trạng thái pending; chỉ đặt khi khách bấm Xác nhận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Cổng 2 (Profile): Cập nhật sở thích qua PendingPreferenceChange cần user duyệt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Chỉ có thao tác Đọc (tra cứu menu) là áp dụng ngay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698480" cy="5486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🛡️ Nguyên lý thiết kế: Tách biệt rõ ràng giữa AI đề xuất (LLM) và Con người quyết định (Human Approval).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MLOPS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Quản Lý Prompt Versioning &amp; Rollback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Xóa bỏ hoàn toàn tình trạng Prompt Hardcode bằng hệ thống quản trị phiên bản trong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DB-Backed Prompt Store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Lưu trữ trong bảng PromptVersion với mã băm SHA-256 (prompt_hash) phát hiện trôi dạt (Drift Detection).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Hỗ trợ phân phiên bản ngữ nghĩa (SemVer: 1.0.0, 1.1.0, 1.2.0...).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Tự động thẩm định (Validate) các biến nội suy {name}, {profile_json} trước khi ghi vào DB.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Mỗi cuộc trò chuyện ghi log kèm prompt_version &amp; prompt_hash để truy vết chính xác chất lượng câu trả lời.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023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Admin API &amp; Instant Rollback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▶ POST /api/prompts: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Tạo phiên bản prompt mới (tự tính hash SHA-256).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▶ GET /api/prompts?name=...: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Xem lịch sử thay đổi và so sánh các phiên bản.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▶ POST /api/prompts/{id}/activate: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Kích hoạt phiên bản ngay lập tức trên RUNTIME!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▶ Hot-Fix &amp; A/B Testing: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Rollback về bản trước hoặc thử nghiệm prompt mới mà KHÔNG cần redeploy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✅ Đạt chuẩn MLOps: Đã chuyển đổi hoàn toàn từ Prompt Hardcoding sang DB-backed Prompt Governance.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OBSERVABILITY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Hạ Tầng Suy Luận Đa Tầng &amp; Đo Lường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Đảm bảo chatbot phản hồi 24/7 với chi phí 0đ và khả năng truy vết (Tracing) chi tiết.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Multi-Engine Auto-Fallback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1. Primary Engine (Cloud LLM):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OpenAI gpt-4o-mini hoặc Gemini Flash cho năng lực lý luận mạnh mẽ nhất.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2. Intelligent Auto-Fallback: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Nếu Cloud gặp lỗi mạng, hết quota hoặc thiếu API Key: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3. Local Zero-Cost Engine: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Tự động chuyển tiếp mượt mà sang Ollama Local (gemma4:e4b) chạy nội bộ trong mạng Docker.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Lợi ích doanh nghiệp: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Khách hàng không bao giờ gặp lỗi trắng trang; hệ thống có thể chạy hoàn toàn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023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Structured Telemetry &amp; Langfuse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▶ Mỗi request tạo một JSON structured log gồm: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request_id, provider, model, latency_ms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prompt_name, prompt_version, prompt_hash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input_tokens, output_tokens, total_tokens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estimated_cost_usd (tính đến 8 chữ số thập phân)</a:t>
            </a:r>
          </a:p>
          <a:p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▶ Tích hợp Langfuse Dashboard: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Truy vết hội thoại (Tracing end-to-end)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Đo lường chi phí thời gian thực theo từng người dùng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📊 Minh bạch chi phí: Mọi token đều được hạch toán trực tiếp vào cột dữ liệu ChatMessage của khách hàng.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MLOPS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Năng Lực Tinh Chỉnh &amp; Thử Nghiệm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Chủ động huấn luyện mô hình ngôn ngữ nhỏ (SLM) và bộ điều phối RAG riêng biệt.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Model Registry &amp; Tracking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Quản lý tập trung các checkpoint và siêu tham số: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Lưu trữ thông số huấn luyện (learning_rate, epochs, batch_size)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Theo dõi biểu đồ hàm mất mát (loss_history) qua từng epoch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Quản lý huyết thống tập dữ liệu (Dataset Lineage &amp; SHA256)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Chuyển đổi active model linh hoạt trên giao diện quản trị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Gemma 2B LoRA Fine-Tuning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Pipeline tinh chỉnh SLM chuyên ngành F&amp;B: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Mô hình gốc: google/gemma-2-2b-it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Cấu hình LoRA nhẹ: r=8, alpha=16, targets: q_proj, v_proj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Tối ưu cho văn phong tư vấn đồ uống Việt Nam tự nhiên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Huấn luyện trực tiếp trên GPU RTX / CPU 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83280" cy="46634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Contrastive RAG Adapter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Bộ điều chỉnh véc-tơ cải thiện tìm kiếm ngữ nghĩa: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Mô hình nhúng: sentence-transformers/all-MiniLM-L6-v2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Kiến trúc: Linear Projection + LayerNorm + Residual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Học độ tương đồng cho từ lóng đồ uống (e.g. bạc xỉu, trà mãng cầu)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Độ chính xác truy xuất cải thiện +28.5%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EVALUATION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Bảng Đối Chiếu Tiến Độ Với Đề Bài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Đánh giá trung thực từng tiêu chí kỹ thuật theo yêu cầu ban tổ chức và mentor.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5790895"/>
              </a:tblGrid>
              <a:tr h="467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Hạng Mục Yêu Cầu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Dẫn Chứng Mã Nguồn &amp; Đánh Giá Kỹ Thuật</a:t>
                      </a:r>
                    </a:p>
                  </a:txBody>
                  <a:tcPr>
                    <a:solidFill>
                      <a:srgbClr val="16203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 Thu thập tên, SĐT, địa chỉ → Đẩy vào DB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User (phone, name, address), Regex phone VN, endpoint đăng ký/cập nhật.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 Gợi ý đồ uống Detox, Coffee, Protein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Seed data đủ nhóm protein (3 món), detox, cà phê, trà. Có test case xác minh.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 Lưu chat history để đánh giá độ chính xác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Đã lưu tin nhắn kèm Token, Cost, Latency; Chưa có nút Like/Dislike trực tiếp.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3F5E"/>
                          </a:solidFill>
                        </a:defRPr>
                      </a:pPr>
                      <a:r>
                        <a:t>4. Ứng dụng → VPC Endpoint → AWS Bedrock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3F5E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Khoảng trống lớn nhất: Đang gọi trực tiếp OpenAI API &amp; Ollama Local.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 Đóng gói Docker cho Backend &amp; Frontend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Dockerfile tối ưu + docker-compose.yml (Postgres, Backend, Frontend, Nginx).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 Tracking Model &amp; Token từng message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Cột model_name, input_tokens, output_tokens, estimated_cost_usd trên ChatMessage.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 Quản lý phiên bản Prompt &amp; Rollback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DB-backed PromptVersion store, mã SHA-256 chống drift, API kích hoạt/rollback.</a:t>
                      </a:r>
                    </a:p>
                  </a:txBody>
                  <a:tcPr>
                    <a:solidFill>
                      <a:srgbClr val="0E152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8. AI Agent có bước duyệt (Human Approval)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 cổng duyệt: Xác nhận đặt món (Order) + Xác nhận đổi hồ sơ (Pending preferences).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6188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🎯 Tổng kết mức độ đáp ứng: 7/8 Hạng mục hoàn thành (87.5%) • Ưu tiên trọng tâm tiếp theo là AWS Bedrock VPC Endpoint.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Kế Hoạch Phát Triển Tiếp Theo &amp; Thảo Luận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Các hạng mục trọng tâm nhằm hoàn thiện 100% chuẩn kiến trúc đám mây doanh nghiệp.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32918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ƯU TIÊN 1: CRITICAL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AWS Bedrock &amp; VPC Endpoint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Triển khai SDK Boto3 hỗ trợ Claude 3 Haiku / Llama 3 trên AWS Bedrock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Cấu hình VPC Endpoint bảo mật không đi qua public internet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Đáp ứng trọn vẹn yêu cầu hạ tầng đám mây từ bài toán workshop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32918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ƯU TIÊN 2: UX FEEDBACK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User Feedback Loop (RLHF)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Bổ sung nút Thumbs Up / Down cho từng tin nhắn trên giao diện Frontend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Đồng bộ điểm đánh giá trực tiếp về Langfuse Dataset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Xây dựng tập Eval dữ liệu thực tế từ phản hồi của khách hàng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383280" cy="329184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28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ƯU TIÊN 3: CI/CD PIPELINE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Continuous Retraining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Tự động kích hoạt pipeline huấn luyện lại mô hình SLM khi có dữ liệu mới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Kiểm định chất lượng tự động qua bộ 73 bài kiểm tra regression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Tự động triển khai canary deployment khi mô hình mới vượt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166360"/>
            <a:ext cx="7619695" cy="1280160"/>
          </a:xfrm>
          <a:prstGeom prst="roundRect">
            <a:avLst/>
          </a:prstGeom>
          <a:solidFill>
            <a:srgbClr val="1620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2578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☕ CẢM ƠN QUÝ THẦY CÔ &amp; CÁC BẠN ĐÃ LẮNG NGHE!</a:t>
            </a:r>
          </a:p>
          <a:p>
            <a:pPr algn="ctr"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DrinkBot MLOps — Hệ thống Backend sẵn sàng cho phần Hỏi &amp; Đáp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